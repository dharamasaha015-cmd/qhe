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50DB-C76E-CFEA-0A28-69BE77EE5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EDC28-69A1-EC24-4D0B-52278B3C9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D53D6-BED3-50B7-8383-ABEC14D9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D2BF6-C659-317A-06DA-373E4D31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BFBE1-A640-F7D7-391C-45A3C36D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533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0EAC-629D-955A-7844-771AFCA9E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C0699-E0B5-46E4-569E-B41CB6585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1C8DD-47D0-7CC5-ADB2-17B5535F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6D72F-0CA5-EFCF-FBFC-8A7B5065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08D8A-05DE-1515-37CF-FDD8B3C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930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ADDAA-8A28-7C17-8512-D8E2FB41B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E2DB9-BD9D-5737-FBDC-73015FE50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A136B-3ED0-A290-E2C6-656E4400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55888-FA5D-3E9C-8549-B52562C9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75E4B-722E-F194-E4D8-E4407694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08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3A97A-9204-4291-94BB-843308CF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69E41-8DF0-6CB0-0719-FE533C416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70BE7-3DDB-8A90-BAB5-85885F02A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18D29-6EF6-2517-7AFE-22DCAC5D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DB9F6-3538-E6B0-CBFF-39B960C05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13D6D-4EDD-3B20-2E28-CCE7F20E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55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9DC62-2670-6FBC-504F-F6F638CD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4D606-81B0-A41E-8376-3AB611947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70448-D540-3AF4-6F4D-496BF4A12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BC7A2-B376-C98A-AAB8-9561DF935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2FFE9-AB2B-A15F-16C7-7DEAAC0A2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DF2A93-F163-A7E0-F855-02389BBC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B3F60D-591F-D540-83CF-22AC12F1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ED9769-C96B-BAD3-C2FE-1B2E5737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875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1435-AA6B-45F0-B3F9-BDA5D46F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8497E3-066D-0878-C26A-8ACA436B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4930A-6D6B-5D55-818F-510858D62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59A56-A2E6-67AA-7F46-B9C781FC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36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B2C3D-74AD-E0E1-8477-02D81148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2F82B8-BD73-5AE0-D78E-FB30F5E3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48507-820E-4EC7-532E-D59A26396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47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851A-49FA-52FE-BC30-A749E33EC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35000-5886-9C0F-841C-93C271BCE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44143-4BE2-DF86-83AC-814A3669E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40211-715A-CCA1-380E-71484D8B5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2F32A-7145-D4F9-E5AC-CA2D10D3F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C870D-305F-4E5D-2285-7A721888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66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6143-675F-DEB9-C970-B672D974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6A467-EAF6-DDC7-F549-F0DD41A57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1B450-B3A1-E560-3CF9-8A1A796D0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61F70-C3B9-842D-8DDD-20741209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92225-6AF3-11C4-BA77-951D5983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D0668-C270-128A-91FE-49229BC2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93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0B8C-B649-5854-B949-2EF84844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7D029-16BB-6C36-B41C-F7DEF49D8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7D9B2-73AA-9521-E317-6B48286B4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8F905-120F-1140-76C8-928A99FA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E28E5-68C2-4CF3-8D08-15E12FF15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20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3FA16B-78CC-3F05-8FC8-3DEC94C3F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31D34-0ABE-E532-6F63-E37A283B5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08199-EE07-8DEE-4C10-FD15F1E4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96089-49B8-06D1-EBB9-36AFAE57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92FF9-4676-4359-CB50-A4CC412D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98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85048B-C75E-4A0C-5E28-5AB3DACC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ECFD5-718C-3055-5DB9-48BF5A1F6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B59D7-9676-DEA6-7955-420DA4FFA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583B2-BE4D-49CA-9102-2256A2E7DD75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18F29-9849-FCB8-2BF7-C11CA11E0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A3736-7345-B0F3-8AF2-7E3A44756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A6157-0032-4E0F-A993-F4B36421A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763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susmat.2022.e0043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hyperlink" Target="https://doi.org/10.1002/adma.201102306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2/adma.201102306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2EF384D-08CA-94E3-77FB-0DA813220B5E}"/>
              </a:ext>
            </a:extLst>
          </p:cNvPr>
          <p:cNvGrpSpPr/>
          <p:nvPr/>
        </p:nvGrpSpPr>
        <p:grpSpPr>
          <a:xfrm>
            <a:off x="1397863" y="403635"/>
            <a:ext cx="9396274" cy="6050730"/>
            <a:chOff x="1101455" y="479773"/>
            <a:chExt cx="9396274" cy="60507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7E28272-115B-E50E-8CC0-86E344016B95}"/>
                </a:ext>
              </a:extLst>
            </p:cNvPr>
            <p:cNvSpPr/>
            <p:nvPr/>
          </p:nvSpPr>
          <p:spPr>
            <a:xfrm>
              <a:off x="1477962" y="579841"/>
              <a:ext cx="2943434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1500" b="0" cap="none" spc="0" dirty="0" err="1">
                  <a:ln w="0"/>
                  <a:solidFill>
                    <a:schemeClr val="tx2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</a:t>
              </a:r>
              <a:r>
                <a:rPr lang="en-US" sz="11500" b="0" cap="none" spc="0" baseline="-25000" dirty="0" err="1">
                  <a:ln w="0"/>
                  <a:solidFill>
                    <a:schemeClr val="tx2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n+1</a:t>
              </a:r>
              <a:endParaRPr lang="en-US" sz="11500" b="0" cap="none" spc="0" dirty="0">
                <a:ln w="0"/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E71C40-91F8-CC86-F8B6-A4CB79F7060A}"/>
                </a:ext>
              </a:extLst>
            </p:cNvPr>
            <p:cNvSpPr/>
            <p:nvPr/>
          </p:nvSpPr>
          <p:spPr>
            <a:xfrm>
              <a:off x="5385313" y="568264"/>
              <a:ext cx="1595309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1500" dirty="0">
                  <a:ln w="0"/>
                  <a:solidFill>
                    <a:schemeClr val="accent6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  <a:r>
                <a:rPr lang="en-US" sz="11500" baseline="-25000" dirty="0">
                  <a:ln w="0"/>
                  <a:solidFill>
                    <a:schemeClr val="accent6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endParaRPr lang="en-US" sz="11500" b="0" cap="none" spc="0" baseline="-25000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C2A8DB-85CC-608A-0B74-B4BA5D3A2BBC}"/>
                </a:ext>
              </a:extLst>
            </p:cNvPr>
            <p:cNvSpPr/>
            <p:nvPr/>
          </p:nvSpPr>
          <p:spPr>
            <a:xfrm>
              <a:off x="8657137" y="479773"/>
              <a:ext cx="1542410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15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X</a:t>
              </a:r>
              <a:r>
                <a:rPr lang="en-US" sz="11500" baseline="-25000" dirty="0" err="1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</a:t>
              </a:r>
              <a:endParaRPr lang="en-US" sz="11500" b="0" cap="none" spc="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2CE2099-2FEA-BDA4-CBC7-0FD48EF8B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1455" y="2765897"/>
              <a:ext cx="9396274" cy="3764606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4EC318C-8914-5453-25AB-2ECDEA0A1042}"/>
              </a:ext>
            </a:extLst>
          </p:cNvPr>
          <p:cNvSpPr txBox="1"/>
          <p:nvPr/>
        </p:nvSpPr>
        <p:spPr>
          <a:xfrm>
            <a:off x="9122705" y="2367272"/>
            <a:ext cx="2750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Where n = 0,1,2,3…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600FFF-9E93-14F8-ABF5-6F41F37CB244}"/>
              </a:ext>
            </a:extLst>
          </p:cNvPr>
          <p:cNvSpPr txBox="1"/>
          <p:nvPr/>
        </p:nvSpPr>
        <p:spPr>
          <a:xfrm>
            <a:off x="10497729" y="1322317"/>
            <a:ext cx="1413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PHASE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5DD48-5436-D72C-7235-F410FB7533E4}"/>
              </a:ext>
            </a:extLst>
          </p:cNvPr>
          <p:cNvSpPr/>
          <p:nvPr/>
        </p:nvSpPr>
        <p:spPr>
          <a:xfrm>
            <a:off x="0" y="0"/>
            <a:ext cx="12192000" cy="6980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FB07A5-4479-EED2-C9FF-9B5D6570CF16}"/>
              </a:ext>
            </a:extLst>
          </p:cNvPr>
          <p:cNvSpPr txBox="1"/>
          <p:nvPr/>
        </p:nvSpPr>
        <p:spPr>
          <a:xfrm>
            <a:off x="5082" y="-48330"/>
            <a:ext cx="11973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DHARAMANANDA SAHA </a:t>
            </a: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CUSB2404112015                                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505D2F-DE97-CA54-5049-69C55ECF700D}"/>
              </a:ext>
            </a:extLst>
          </p:cNvPr>
          <p:cNvSpPr/>
          <p:nvPr/>
        </p:nvSpPr>
        <p:spPr>
          <a:xfrm>
            <a:off x="0" y="6553977"/>
            <a:ext cx="12192000" cy="32446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https://</a:t>
            </a:r>
            <a:r>
              <a:rPr lang="en-IN" dirty="0" err="1"/>
              <a:t>youtu.be</a:t>
            </a:r>
            <a:r>
              <a:rPr lang="en-IN" dirty="0"/>
              <a:t>/</a:t>
            </a:r>
            <a:r>
              <a:rPr lang="en-IN" dirty="0" err="1"/>
              <a:t>UUhlRWbomyA?si</a:t>
            </a:r>
            <a:r>
              <a:rPr lang="en-IN" dirty="0"/>
              <a:t>=</a:t>
            </a:r>
            <a:r>
              <a:rPr lang="en-IN" dirty="0" err="1"/>
              <a:t>57b2YRZ9HiyTxHdj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59198A-353A-0D8F-7BD5-E1C1AE4E010F}"/>
              </a:ext>
            </a:extLst>
          </p:cNvPr>
          <p:cNvSpPr/>
          <p:nvPr/>
        </p:nvSpPr>
        <p:spPr>
          <a:xfrm>
            <a:off x="4827039" y="-140663"/>
            <a:ext cx="23296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MXene</a:t>
            </a:r>
            <a:endParaRPr lang="en-US" sz="5400" b="1" i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AB2F5-006D-29D4-6981-A9F2F4B1DB91}"/>
              </a:ext>
            </a:extLst>
          </p:cNvPr>
          <p:cNvSpPr txBox="1"/>
          <p:nvPr/>
        </p:nvSpPr>
        <p:spPr>
          <a:xfrm>
            <a:off x="8789369" y="-66454"/>
            <a:ext cx="3511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 of </a:t>
            </a:r>
          </a:p>
          <a:p>
            <a:r>
              <a:rPr lang="en-I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Dr. Rohit Ranjan Shahi</a:t>
            </a:r>
          </a:p>
        </p:txBody>
      </p:sp>
    </p:spTree>
    <p:extLst>
      <p:ext uri="{BB962C8B-B14F-4D97-AF65-F5344CB8AC3E}">
        <p14:creationId xmlns:p14="http://schemas.microsoft.com/office/powerpoint/2010/main" val="904022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77C656-E8A5-533E-2170-34BF61D48203}"/>
              </a:ext>
            </a:extLst>
          </p:cNvPr>
          <p:cNvSpPr txBox="1"/>
          <p:nvPr/>
        </p:nvSpPr>
        <p:spPr>
          <a:xfrm>
            <a:off x="0" y="-11575"/>
            <a:ext cx="12192000" cy="52322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</a:t>
            </a:r>
            <a:r>
              <a:rPr lang="en-IN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MXene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312 MAX Phases: Elastic Properties and Lithiation">
            <a:extLst>
              <a:ext uri="{FF2B5EF4-FFF2-40B4-BE49-F238E27FC236}">
                <a16:creationId xmlns:a16="http://schemas.microsoft.com/office/drawing/2014/main" id="{ADCA97DE-E1FF-6935-05F1-BE8934549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8490"/>
            <a:ext cx="3755513" cy="548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8370E4-E3E4-54FB-3535-9B05EF4A4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9"/>
          <a:stretch>
            <a:fillRect/>
          </a:stretch>
        </p:blipFill>
        <p:spPr>
          <a:xfrm>
            <a:off x="3755513" y="511646"/>
            <a:ext cx="8436487" cy="41761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735FE6-CA58-DFD1-461F-8D004B8D3D05}"/>
              </a:ext>
            </a:extLst>
          </p:cNvPr>
          <p:cNvSpPr txBox="1"/>
          <p:nvPr/>
        </p:nvSpPr>
        <p:spPr>
          <a:xfrm>
            <a:off x="3755514" y="4687748"/>
            <a:ext cx="84364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MXenes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a class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two-dimensional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nanomaterials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composed of transition metal carbides, nitrides, or carbonitrides. These materials are derived from a parent layered compound known as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phase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term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MXene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derived as follows: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M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Early transition metal (Ti, V, Cr, Nb, etc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 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isCarbon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and/or Nitrogen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EF2F4D-816B-8E8C-4970-012A747CC360}"/>
              </a:ext>
            </a:extLst>
          </p:cNvPr>
          <p:cNvSpPr/>
          <p:nvPr/>
        </p:nvSpPr>
        <p:spPr>
          <a:xfrm>
            <a:off x="0" y="6346353"/>
            <a:ext cx="12192000" cy="53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827DF-1B22-841D-3088-10C28B43A774}"/>
              </a:ext>
            </a:extLst>
          </p:cNvPr>
          <p:cNvSpPr txBox="1"/>
          <p:nvPr/>
        </p:nvSpPr>
        <p:spPr>
          <a:xfrm>
            <a:off x="3868993" y="6444019"/>
            <a:ext cx="6125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u="none" strike="noStrike" dirty="0">
                <a:solidFill>
                  <a:schemeClr val="bg1"/>
                </a:solidFill>
                <a:effectLst/>
                <a:latin typeface="ElsevierSans"/>
                <a:hlinkClick r:id="rId4" tooltip="Persistent link using digital object ident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IN" b="0" i="0" u="none" strike="noStrike" dirty="0" err="1">
                <a:solidFill>
                  <a:schemeClr val="bg1"/>
                </a:solidFill>
                <a:effectLst/>
                <a:latin typeface="ElsevierSans"/>
                <a:hlinkClick r:id="rId4" tooltip="Persistent link using digital object ident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</a:t>
            </a:r>
            <a:r>
              <a:rPr lang="en-IN" b="0" i="0" u="none" strike="noStrike" dirty="0">
                <a:solidFill>
                  <a:schemeClr val="bg1"/>
                </a:solidFill>
                <a:effectLst/>
                <a:latin typeface="ElsevierSans"/>
                <a:hlinkClick r:id="rId4" tooltip="Persistent link using digital object ident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/10.1016/</a:t>
            </a:r>
            <a:r>
              <a:rPr lang="en-IN" b="0" i="0" u="none" strike="noStrike" dirty="0" err="1">
                <a:solidFill>
                  <a:schemeClr val="bg1"/>
                </a:solidFill>
                <a:effectLst/>
                <a:latin typeface="ElsevierSans"/>
                <a:hlinkClick r:id="rId4" tooltip="Persistent link using digital object ident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j.susmat.2022.e00439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690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2EBCB5-E6FA-B764-5B74-E067119EC3F0}"/>
              </a:ext>
            </a:extLst>
          </p:cNvPr>
          <p:cNvSpPr txBox="1"/>
          <p:nvPr/>
        </p:nvSpPr>
        <p:spPr>
          <a:xfrm>
            <a:off x="0" y="-11575"/>
            <a:ext cx="12192000" cy="52322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                                                             </a:t>
            </a:r>
            <a:r>
              <a:rPr lang="en-IN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MXene</a:t>
            </a:r>
            <a:endParaRPr lang="en-IN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5085CB-C530-8C48-1E75-2692FC58E93B}"/>
              </a:ext>
            </a:extLst>
          </p:cNvPr>
          <p:cNvSpPr/>
          <p:nvPr/>
        </p:nvSpPr>
        <p:spPr>
          <a:xfrm>
            <a:off x="0" y="6346353"/>
            <a:ext cx="12192000" cy="53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C03087-0B2E-3322-5DAA-1C15ED163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52155"/>
              </p:ext>
            </p:extLst>
          </p:nvPr>
        </p:nvGraphicFramePr>
        <p:xfrm>
          <a:off x="95043" y="750369"/>
          <a:ext cx="7623280" cy="53572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24656">
                  <a:extLst>
                    <a:ext uri="{9D8B030D-6E8A-4147-A177-3AD203B41FA5}">
                      <a16:colId xmlns:a16="http://schemas.microsoft.com/office/drawing/2014/main" val="1456756315"/>
                    </a:ext>
                  </a:extLst>
                </a:gridCol>
                <a:gridCol w="1524656">
                  <a:extLst>
                    <a:ext uri="{9D8B030D-6E8A-4147-A177-3AD203B41FA5}">
                      <a16:colId xmlns:a16="http://schemas.microsoft.com/office/drawing/2014/main" val="1677098018"/>
                    </a:ext>
                  </a:extLst>
                </a:gridCol>
                <a:gridCol w="1524656">
                  <a:extLst>
                    <a:ext uri="{9D8B030D-6E8A-4147-A177-3AD203B41FA5}">
                      <a16:colId xmlns:a16="http://schemas.microsoft.com/office/drawing/2014/main" val="2150154021"/>
                    </a:ext>
                  </a:extLst>
                </a:gridCol>
                <a:gridCol w="1524656">
                  <a:extLst>
                    <a:ext uri="{9D8B030D-6E8A-4147-A177-3AD203B41FA5}">
                      <a16:colId xmlns:a16="http://schemas.microsoft.com/office/drawing/2014/main" val="3565154010"/>
                    </a:ext>
                  </a:extLst>
                </a:gridCol>
                <a:gridCol w="1524656">
                  <a:extLst>
                    <a:ext uri="{9D8B030D-6E8A-4147-A177-3AD203B41FA5}">
                      <a16:colId xmlns:a16="http://schemas.microsoft.com/office/drawing/2014/main" val="540182525"/>
                    </a:ext>
                  </a:extLst>
                </a:gridCol>
              </a:tblGrid>
              <a:tr h="3136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Type</a:t>
                      </a:r>
                      <a:endParaRPr lang="en-IN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 Phase</a:t>
                      </a:r>
                      <a:endParaRPr lang="en-IN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M</a:t>
                      </a:r>
                      <a:endParaRPr lang="en-IN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A</a:t>
                      </a:r>
                      <a:endParaRPr lang="en-IN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X</a:t>
                      </a:r>
                      <a:endParaRPr lang="en-IN" sz="2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1776217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AlC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1655061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GaC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9965888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SnC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88443253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57629393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93647933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90480826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GeC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55486297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AlN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83147123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31925542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33475272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GaC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92462870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AlN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45761337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7802887"/>
                  </a:ext>
                </a:extLst>
              </a:tr>
              <a:tr h="3115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SiC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9459523"/>
                  </a:ext>
                </a:extLst>
              </a:tr>
              <a:tr h="3713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GaC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4697707"/>
                  </a:ext>
                </a:extLst>
              </a:tr>
              <a:tr h="1877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sz="16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AlN</a:t>
                      </a:r>
                      <a:r>
                        <a:rPr lang="en-IN" sz="1600" b="1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429328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15FC3F-1646-09EC-0081-CE71CCFADE83}"/>
                  </a:ext>
                </a:extLst>
              </p:cNvPr>
              <p:cNvSpPr txBox="1"/>
              <p:nvPr/>
            </p:nvSpPr>
            <p:spPr>
              <a:xfrm>
                <a:off x="7816645" y="760895"/>
                <a:ext cx="4280312" cy="20313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Mixing at M-site</a:t>
                </a: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ar-AE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ar-AE" i="1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ar-AE" i="0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ar-AE" i="0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 i="0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ar-AE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sSub>
                                <m:sSubPr>
                                  <m:ctrlPr>
                                    <a:rPr lang="ar-AE" i="1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ar-AE" i="0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ar-AE" i="0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ar-AE" i="0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ar-AE" i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𝐴𝑙𝐶</m:t>
                      </m:r>
                    </m:oMath>
                  </m:oMathPara>
                </a14:m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layer contains: 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50% Ti  &amp; 50% Nb </a:t>
                </a: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This is called: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Solid solution at M-site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15FC3F-1646-09EC-0081-CE71CCFAD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760895"/>
                <a:ext cx="4280312" cy="2031325"/>
              </a:xfrm>
              <a:prstGeom prst="rect">
                <a:avLst/>
              </a:prstGeom>
              <a:blipFill>
                <a:blip r:embed="rId2"/>
                <a:stretch>
                  <a:fillRect l="-994" t="-1493" b="-358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5C3939-F347-61DE-7BAF-8DD5CA5C707A}"/>
                  </a:ext>
                </a:extLst>
              </p:cNvPr>
              <p:cNvSpPr txBox="1"/>
              <p:nvPr/>
            </p:nvSpPr>
            <p:spPr>
              <a:xfrm>
                <a:off x="7816645" y="3111096"/>
                <a:ext cx="4280312" cy="1200329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Mixing at A-site</a:t>
                </a: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ar-AE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ar-AE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ar-AE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ar-AE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ar-AE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i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layer contains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50%  &amp; 50% Si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5C3939-F347-61DE-7BAF-8DD5CA5C7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645" y="3111096"/>
                <a:ext cx="4280312" cy="1200329"/>
              </a:xfrm>
              <a:prstGeom prst="rect">
                <a:avLst/>
              </a:prstGeom>
              <a:blipFill>
                <a:blip r:embed="rId3"/>
                <a:stretch>
                  <a:fillRect l="-994" t="-2010" b="-6533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AF9A5E-512E-8E92-C2CC-4BBB49CB9D80}"/>
                  </a:ext>
                </a:extLst>
              </p:cNvPr>
              <p:cNvSpPr txBox="1"/>
              <p:nvPr/>
            </p:nvSpPr>
            <p:spPr>
              <a:xfrm>
                <a:off x="8366432" y="4619777"/>
                <a:ext cx="3377381" cy="1477328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Mixing at X-site</a:t>
                </a: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𝐴𝑙</m:t>
                    </m:r>
                    <m:d>
                      <m:dPr>
                        <m:ctrlPr>
                          <a:rPr lang="ar-AE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ar-AE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ar-AE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layer contains:  50% Carbon &amp; 50% Nitrogen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AF9A5E-512E-8E92-C2CC-4BBB49CB9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432" y="4619777"/>
                <a:ext cx="3377381" cy="1477328"/>
              </a:xfrm>
              <a:prstGeom prst="rect">
                <a:avLst/>
              </a:prstGeom>
              <a:blipFill>
                <a:blip r:embed="rId4"/>
                <a:stretch>
                  <a:fillRect l="-1259" t="-2049" b="-5328"/>
                </a:stretch>
              </a:blip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655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076BB7-D923-13FF-3892-21027D2F0E99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en-IN" sz="32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MXene</a:t>
            </a:r>
            <a:r>
              <a:rPr lang="en-IN" sz="3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066D6B-1873-4861-7304-CDB45871BE46}"/>
              </a:ext>
            </a:extLst>
          </p:cNvPr>
          <p:cNvSpPr/>
          <p:nvPr/>
        </p:nvSpPr>
        <p:spPr>
          <a:xfrm>
            <a:off x="0" y="6346353"/>
            <a:ext cx="12192000" cy="53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https://youtu.be/UUhlRWbomyA?si=57b2YRZ9HiyTxHdj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2B79DA-F928-D243-01C0-E4DB674F1102}"/>
                  </a:ext>
                </a:extLst>
              </p:cNvPr>
              <p:cNvSpPr txBox="1"/>
              <p:nvPr/>
            </p:nvSpPr>
            <p:spPr>
              <a:xfrm>
                <a:off x="4734232" y="646331"/>
                <a:ext cx="1224116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40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4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ar-AE" sz="44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4400" i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4400" i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44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4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ar-AE" sz="4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ar-AE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2B79DA-F928-D243-01C0-E4DB674F1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232" y="646331"/>
                <a:ext cx="1224116" cy="769441"/>
              </a:xfrm>
              <a:prstGeom prst="rect">
                <a:avLst/>
              </a:prstGeom>
              <a:blipFill>
                <a:blip r:embed="rId2"/>
                <a:stretch>
                  <a:fillRect r="-104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AFAD2D-8686-D9CD-3C4A-0DE2D86AC3CE}"/>
                  </a:ext>
                </a:extLst>
              </p:cNvPr>
              <p:cNvSpPr txBox="1"/>
              <p:nvPr/>
            </p:nvSpPr>
            <p:spPr>
              <a:xfrm>
                <a:off x="162231" y="1555817"/>
                <a:ext cx="4431890" cy="6463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b="1" dirty="0" err="1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b="1" baseline="-25000" dirty="0" err="1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n+1</a:t>
                </a:r>
                <a:r>
                  <a:rPr lang="en-IN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  <a:r>
                  <a:rPr lang="en-IN" b="1" i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metal layers </a:t>
                </a:r>
                <a:r>
                  <a:rPr lang="en-IN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IN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Ti, V, Nb… </a:t>
                </a:r>
                <a:r>
                  <a:rPr lang="en-IN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If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AFAD2D-8686-D9CD-3C4A-0DE2D86AC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1" y="1555817"/>
                <a:ext cx="4431890" cy="646331"/>
              </a:xfrm>
              <a:prstGeom prst="rect">
                <a:avLst/>
              </a:prstGeom>
              <a:blipFill>
                <a:blip r:embed="rId3"/>
                <a:stretch>
                  <a:fillRect l="-1097" t="-3704" b="-1296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2A1E379-BEA5-87A1-5E3C-7C9EEC607F4A}"/>
              </a:ext>
            </a:extLst>
          </p:cNvPr>
          <p:cNvSpPr txBox="1"/>
          <p:nvPr/>
        </p:nvSpPr>
        <p:spPr>
          <a:xfrm>
            <a:off x="4741605" y="1555818"/>
            <a:ext cx="2708787" cy="64633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b="1" baseline="-25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b="1" baseline="-25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  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lang="en-IN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Carbon/Nitrogen       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683314-5AEF-BE29-92E4-027B9D93BC11}"/>
              </a:ext>
            </a:extLst>
          </p:cNvPr>
          <p:cNvSpPr txBox="1"/>
          <p:nvPr/>
        </p:nvSpPr>
        <p:spPr>
          <a:xfrm>
            <a:off x="7661783" y="1067899"/>
            <a:ext cx="4478595" cy="147732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surface terminations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synthesis, the surface gets functional groups like:</a:t>
            </a:r>
          </a:p>
          <a:p>
            <a:r>
              <a:rPr lang="en-I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–O (oxygen) –OH (hydroxyl) –F (fluorine)</a:t>
            </a:r>
          </a:p>
          <a:p>
            <a:r>
              <a:rPr lang="en-I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–Cl (chlorine)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3F94F0-1A25-D863-FBE1-F65225B6232A}"/>
                  </a:ext>
                </a:extLst>
              </p:cNvPr>
              <p:cNvSpPr txBox="1"/>
              <p:nvPr/>
            </p:nvSpPr>
            <p:spPr>
              <a:xfrm>
                <a:off x="641552" y="2742304"/>
                <a:ext cx="10908891" cy="738664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n=1,2,3…… determines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and structure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then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ar-AE" sz="2400" b="1" i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ar-AE" sz="24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then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ar-AE" sz="2400" b="1" i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ar-AE" sz="2400" b="1" i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:          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then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ar-AE" sz="2400" b="1" i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ar-AE" sz="2400" b="1" i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ar-A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3F94F0-1A25-D863-FBE1-F65225B62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52" y="2742304"/>
                <a:ext cx="10908891" cy="738664"/>
              </a:xfrm>
              <a:prstGeom prst="rect">
                <a:avLst/>
              </a:prstGeom>
              <a:blipFill>
                <a:blip r:embed="rId4"/>
                <a:stretch>
                  <a:fillRect l="-391" t="-4065" b="-17073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7ED91D0-8210-3D10-15B9-6855A0EF0986}"/>
                  </a:ext>
                </a:extLst>
              </p:cNvPr>
              <p:cNvSpPr txBox="1"/>
              <p:nvPr/>
            </p:nvSpPr>
            <p:spPr>
              <a:xfrm>
                <a:off x="1960306" y="5020250"/>
                <a:ext cx="7602793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                                                      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MXene</a:t>
                </a:r>
                <a:r>
                  <a:rPr lang="en-IN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IN" sz="3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sSub>
                      <m:sSubPr>
                        <m:ctrlPr>
                          <a:rPr lang="ar-AE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ar-AE" sz="3600" b="1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ar-AE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ar-AE" sz="3600" b="1" i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ar-AE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ar-AE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</m:oMath>
                </a14:m>
                <a:endParaRPr lang="ar-A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IN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i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𝑇𝑖</m:t>
                    </m:r>
                  </m:oMath>
                </a14:m>
                <a:r>
                  <a:rPr lang="en-IN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(Titanium):  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i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IN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(Carbon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surface groups (–O, –OH, –F) 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Discovered in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2011 at Drexel University         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7ED91D0-8210-3D10-15B9-6855A0EF0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306" y="5020250"/>
                <a:ext cx="7602793" cy="1200329"/>
              </a:xfrm>
              <a:prstGeom prst="rect">
                <a:avLst/>
              </a:prstGeom>
              <a:blipFill>
                <a:blip r:embed="rId5"/>
                <a:stretch>
                  <a:fillRect b="-70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19ECAD-8F7B-A683-CDC9-4F8F4B81FE79}"/>
                  </a:ext>
                </a:extLst>
              </p:cNvPr>
              <p:cNvSpPr txBox="1"/>
              <p:nvPr/>
            </p:nvSpPr>
            <p:spPr>
              <a:xfrm>
                <a:off x="1484667" y="3614406"/>
                <a:ext cx="9537295" cy="1015663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MAX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b="1" i="1">
                        <a:latin typeface="Cambria Math" panose="02040503050406030204" pitchFamily="18" charset="0"/>
                      </a:rPr>
                      <m:t>𝑻</m:t>
                    </m:r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ar-AE" sz="2400" b="1" i="1">
                        <a:latin typeface="Cambria Math" panose="02040503050406030204" pitchFamily="18" charset="0"/>
                      </a:rPr>
                      <m:t>𝑨𝒍</m:t>
                    </m:r>
                    <m:sSub>
                      <m:sSubPr>
                        <m:ctrlPr>
                          <a:rPr lang="ar-A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ar-AE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 was immersed in strong etching solution like HF. Converting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𝐴𝑙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surfaces get functional groups: –F (from HF) : –OH (from water):  –O (oxidation)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19ECAD-8F7B-A683-CDC9-4F8F4B81F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67" y="3614406"/>
                <a:ext cx="9537295" cy="1015663"/>
              </a:xfrm>
              <a:prstGeom prst="rect">
                <a:avLst/>
              </a:prstGeom>
              <a:blipFill>
                <a:blip r:embed="rId6"/>
                <a:stretch>
                  <a:fillRect l="-511" t="-4142" b="-769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Right 23">
            <a:extLst>
              <a:ext uri="{FF2B5EF4-FFF2-40B4-BE49-F238E27FC236}">
                <a16:creationId xmlns:a16="http://schemas.microsoft.com/office/drawing/2014/main" id="{A208E333-3CC2-65A3-A114-381E0D330C90}"/>
              </a:ext>
            </a:extLst>
          </p:cNvPr>
          <p:cNvSpPr/>
          <p:nvPr/>
        </p:nvSpPr>
        <p:spPr>
          <a:xfrm rot="5400000">
            <a:off x="5535561" y="4719484"/>
            <a:ext cx="245807" cy="3557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08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2BDEA4-CEFF-B2AC-1820-2895490BFB04}"/>
              </a:ext>
            </a:extLst>
          </p:cNvPr>
          <p:cNvSpPr txBox="1"/>
          <p:nvPr/>
        </p:nvSpPr>
        <p:spPr>
          <a:xfrm>
            <a:off x="0" y="-11575"/>
            <a:ext cx="12192000" cy="52322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                                                             </a:t>
            </a:r>
            <a:r>
              <a:rPr lang="en-IN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  </a:t>
            </a:r>
            <a:r>
              <a:rPr lang="en-IN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MXene</a:t>
            </a:r>
            <a:endParaRPr lang="en-IN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03266E-9F72-2C9E-D5E3-EDEFB4A3542D}"/>
              </a:ext>
            </a:extLst>
          </p:cNvPr>
          <p:cNvSpPr/>
          <p:nvPr/>
        </p:nvSpPr>
        <p:spPr>
          <a:xfrm>
            <a:off x="0" y="6346353"/>
            <a:ext cx="12192000" cy="5320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                                                                         </a:t>
            </a:r>
            <a:r>
              <a:rPr lang="fr-FR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fr-FR" b="1" dirty="0" err="1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</a:t>
            </a:r>
            <a:r>
              <a:rPr lang="fr-FR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/10.1002/</a:t>
            </a:r>
            <a:r>
              <a:rPr lang="fr-FR" b="1" dirty="0" err="1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adma.201102306</a:t>
            </a:r>
            <a:endParaRPr lang="fr-FR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B179A-7EAA-4050-7B2D-89BAE55099DD}"/>
              </a:ext>
            </a:extLst>
          </p:cNvPr>
          <p:cNvGrpSpPr/>
          <p:nvPr/>
        </p:nvGrpSpPr>
        <p:grpSpPr>
          <a:xfrm>
            <a:off x="-1799304" y="661690"/>
            <a:ext cx="8740877" cy="2455689"/>
            <a:chOff x="1022555" y="573200"/>
            <a:chExt cx="8667136" cy="2455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F7FBFA7-2FC9-5E2D-63C4-94D5E4A60BC2}"/>
                    </a:ext>
                  </a:extLst>
                </p:cNvPr>
                <p:cNvSpPr txBox="1"/>
                <p:nvPr/>
              </p:nvSpPr>
              <p:spPr>
                <a:xfrm>
                  <a:off x="1022555" y="573200"/>
                  <a:ext cx="8667136" cy="11759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I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                                                      </a:t>
                  </a:r>
                  <a:r>
                    <a:rPr lang="en-IN" b="1" u="sng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Removal of A-layer: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                    </m:t>
                        </m:r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𝐻𝐹</m:t>
                        </m:r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𝐴𝑙</m:t>
                        </m:r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F7FBFA7-2FC9-5E2D-63C4-94D5E4A60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555" y="573200"/>
                  <a:ext cx="8667136" cy="1175963"/>
                </a:xfrm>
                <a:prstGeom prst="rect">
                  <a:avLst/>
                </a:prstGeom>
                <a:blipFill>
                  <a:blip r:embed="rId3"/>
                  <a:stretch>
                    <a:fillRect t="-31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3BF4FE-A74A-B5A3-7F26-BFAC6C967748}"/>
                    </a:ext>
                  </a:extLst>
                </p:cNvPr>
                <p:cNvSpPr txBox="1"/>
                <p:nvPr/>
              </p:nvSpPr>
              <p:spPr>
                <a:xfrm>
                  <a:off x="1179871" y="1459584"/>
                  <a:ext cx="8205020" cy="800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IN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                                              </a:t>
                  </a:r>
                  <a:r>
                    <a:rPr lang="en-IN" b="1" u="sng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Formation of –OH Termination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𝑂𝐻</m:t>
                                </m:r>
                              </m:e>
                            </m:d>
                          </m:e>
                          <m:sub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ar-AE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3BF4FE-A74A-B5A3-7F26-BFAC6C967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9871" y="1459584"/>
                  <a:ext cx="8205020" cy="800219"/>
                </a:xfrm>
                <a:prstGeom prst="rect">
                  <a:avLst/>
                </a:prstGeom>
                <a:blipFill>
                  <a:blip r:embed="rId4"/>
                  <a:stretch>
                    <a:fillRect t="-458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266FEA1-3523-CA9F-40D6-843104654A71}"/>
                    </a:ext>
                  </a:extLst>
                </p:cNvPr>
                <p:cNvSpPr txBox="1"/>
                <p:nvPr/>
              </p:nvSpPr>
              <p:spPr>
                <a:xfrm>
                  <a:off x="2679292" y="2228670"/>
                  <a:ext cx="6105832" cy="8002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I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                          </a:t>
                  </a:r>
                  <a:r>
                    <a:rPr lang="en-IN" b="1" u="sng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IN" b="1" u="sng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Formation of –F Termination  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𝐻𝐹</m:t>
                        </m:r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 sz="28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ar-AE" sz="2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ar-AE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266FEA1-3523-CA9F-40D6-843104654A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9292" y="2228670"/>
                  <a:ext cx="6105832" cy="800219"/>
                </a:xfrm>
                <a:prstGeom prst="rect">
                  <a:avLst/>
                </a:prstGeom>
                <a:blipFill>
                  <a:blip r:embed="rId5"/>
                  <a:stretch>
                    <a:fillRect t="-38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0B43E5-7567-2B6D-F94E-0B4AF08AA347}"/>
                  </a:ext>
                </a:extLst>
              </p:cNvPr>
              <p:cNvSpPr txBox="1"/>
              <p:nvPr/>
            </p:nvSpPr>
            <p:spPr>
              <a:xfrm>
                <a:off x="7395722" y="1440351"/>
                <a:ext cx="3273250" cy="101566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  <a:scene3d>
                  <a:camera prst="perspectiveFront"/>
                  <a:lightRig rig="threePt" dir="t"/>
                </a:scene3d>
              </a:bodyPr>
              <a:lstStyle/>
              <a:p>
                <a:pPr>
                  <a:buNone/>
                </a:pPr>
                <a:endParaRPr lang="en-IN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ar-AE" sz="2400" i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ar-AE" sz="2400" i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ar-AE" sz="2400" i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ar-AE" sz="2400" i="1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ar-AE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>
                  <a:buNone/>
                </a:pPr>
                <a:endParaRPr lang="en-IN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10B43E5-7567-2B6D-F94E-0B4AF08AA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722" y="1440351"/>
                <a:ext cx="3273250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9E8936-CB7F-6AE8-CCB3-0EE4203EB8C8}"/>
                  </a:ext>
                </a:extLst>
              </p:cNvPr>
              <p:cNvSpPr txBox="1"/>
              <p:nvPr/>
            </p:nvSpPr>
            <p:spPr>
              <a:xfrm>
                <a:off x="-364497" y="3031199"/>
                <a:ext cx="6998676" cy="1060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                                                            </a:t>
                </a:r>
                <a:r>
                  <a:rPr lang="en-IN" b="1" u="sng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Etching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𝐴𝑙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𝐻𝐹</m:t>
                      </m:r>
                      <m:r>
                        <a:rPr lang="ar-AE" sz="2400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ar-AE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𝐴𝑙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9E8936-CB7F-6AE8-CCB3-0EE4203EB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4497" y="3031199"/>
                <a:ext cx="6998676" cy="1060803"/>
              </a:xfrm>
              <a:prstGeom prst="rect">
                <a:avLst/>
              </a:prstGeom>
              <a:blipFill>
                <a:blip r:embed="rId7"/>
                <a:stretch>
                  <a:fillRect t="-34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5ABB98B-79F3-AE48-37A3-9C69554F3711}"/>
                  </a:ext>
                </a:extLst>
              </p:cNvPr>
              <p:cNvSpPr txBox="1"/>
              <p:nvPr/>
            </p:nvSpPr>
            <p:spPr>
              <a:xfrm>
                <a:off x="-364497" y="4111181"/>
                <a:ext cx="6998676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                                                </a:t>
                </a:r>
                <a:r>
                  <a:rPr lang="en-IN" b="1" u="sng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Hydroxyl Termination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ar-AE" sz="2400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ar-AE" sz="2400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ar-AE" sz="240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𝑂𝐻</m:t>
                              </m:r>
                            </m:e>
                          </m:d>
                        </m:e>
                        <m:sub>
                          <m:r>
                            <a:rPr lang="ar-AE" sz="240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24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5ABB98B-79F3-AE48-37A3-9C69554F3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4497" y="4111181"/>
                <a:ext cx="6998676" cy="738664"/>
              </a:xfrm>
              <a:prstGeom prst="rect">
                <a:avLst/>
              </a:prstGeom>
              <a:blipFill>
                <a:blip r:embed="rId8"/>
                <a:stretch>
                  <a:fillRect t="-4918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96C2BD-BA39-BFEC-5023-E197FD30A90C}"/>
                  </a:ext>
                </a:extLst>
              </p:cNvPr>
              <p:cNvSpPr txBox="1"/>
              <p:nvPr/>
            </p:nvSpPr>
            <p:spPr>
              <a:xfrm>
                <a:off x="-228599" y="5020345"/>
                <a:ext cx="6998676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</a:t>
                </a:r>
                <a:r>
                  <a:rPr lang="en-IN" b="1" u="sng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Fluorine Termination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𝐻𝐹</m:t>
                      </m:r>
                      <m:r>
                        <a:rPr lang="ar-AE" sz="2400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ar-AE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i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400" i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96C2BD-BA39-BFEC-5023-E197FD30A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599" y="5020345"/>
                <a:ext cx="6998676" cy="738664"/>
              </a:xfrm>
              <a:prstGeom prst="rect">
                <a:avLst/>
              </a:prstGeom>
              <a:blipFill>
                <a:blip r:embed="rId9"/>
                <a:stretch>
                  <a:fillRect t="-4959" b="-16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5BEE8C7-76FB-A84D-EB48-6F4804709C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351" y="3208755"/>
            <a:ext cx="3406623" cy="271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7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386B25-97F8-8DDA-A332-3531775CAB5D}"/>
              </a:ext>
            </a:extLst>
          </p:cNvPr>
          <p:cNvSpPr txBox="1"/>
          <p:nvPr/>
        </p:nvSpPr>
        <p:spPr>
          <a:xfrm>
            <a:off x="0" y="-11575"/>
            <a:ext cx="12192000" cy="52322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                                                             </a:t>
            </a:r>
            <a:r>
              <a:rPr lang="en-IN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MXene</a:t>
            </a:r>
            <a:endParaRPr lang="en-IN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21DDED-4E9D-8D12-56D4-E48372782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004992"/>
              </p:ext>
            </p:extLst>
          </p:nvPr>
        </p:nvGraphicFramePr>
        <p:xfrm>
          <a:off x="334297" y="530142"/>
          <a:ext cx="11512263" cy="5971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7421">
                  <a:extLst>
                    <a:ext uri="{9D8B030D-6E8A-4147-A177-3AD203B41FA5}">
                      <a16:colId xmlns:a16="http://schemas.microsoft.com/office/drawing/2014/main" val="3600232222"/>
                    </a:ext>
                  </a:extLst>
                </a:gridCol>
                <a:gridCol w="3837421">
                  <a:extLst>
                    <a:ext uri="{9D8B030D-6E8A-4147-A177-3AD203B41FA5}">
                      <a16:colId xmlns:a16="http://schemas.microsoft.com/office/drawing/2014/main" val="2755983965"/>
                    </a:ext>
                  </a:extLst>
                </a:gridCol>
                <a:gridCol w="3837421">
                  <a:extLst>
                    <a:ext uri="{9D8B030D-6E8A-4147-A177-3AD203B41FA5}">
                      <a16:colId xmlns:a16="http://schemas.microsoft.com/office/drawing/2014/main" val="1215997842"/>
                    </a:ext>
                  </a:extLst>
                </a:gridCol>
              </a:tblGrid>
              <a:tr h="52754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Properties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Advantages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Disadvantages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750212506"/>
                  </a:ext>
                </a:extLst>
              </a:tr>
              <a:tr h="18464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Electrical &amp; Electronic Properties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 i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MXenes</a:t>
                      </a:r>
                      <a:r>
                        <a:rPr lang="en-US" b="0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exhibit high electrical conductivity (up to ~10,000 S/cm) due to partially filled d-orbitals of transition metals, enabling efficient electron transport and metallic behavior.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 i="1">
                          <a:solidFill>
                            <a:srgbClr val="C0392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Conductivity degrades upon oxidation as surface Ti (or other metals) forms insulating oxides (e.g., TiO₂), disrupting electron pathways.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978930077"/>
                  </a:ext>
                </a:extLst>
              </a:tr>
              <a:tr h="184640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Area &amp; Ion Transport</a:t>
                      </a:r>
                      <a:endParaRPr lang="en-IN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US" b="0" i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</a:t>
                      </a:r>
                      <a:r>
                        <a:rPr lang="en-US" b="0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layered structure provides a high surface-to-volume ratio and hydrophilic surface terminations (–OH, –O), facilitating rapid ion diffusion and high electrochemical capacitance.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 i="1" dirty="0">
                          <a:solidFill>
                            <a:srgbClr val="C0392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van der Waals interactions cause restacking of layers, reducing accessible surface area and hindering ion transport.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326643188"/>
                  </a:ext>
                </a:extLst>
              </a:tr>
              <a:tr h="15826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Chemical Tunability 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terminations (Tₓ = –O, –OH, –F) can be tuned to modify electronic structure, catalytic activity, due to reactive surface sites.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0" i="1" dirty="0">
                          <a:solidFill>
                            <a:srgbClr val="C0392B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Synthesis typically involves hydrofluoric acid (HF), which is highly toxic and corrosive, posing safety and scalability challenges.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56908344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3598C41-557E-00B5-97DA-450DE49D6A15}"/>
              </a:ext>
            </a:extLst>
          </p:cNvPr>
          <p:cNvSpPr/>
          <p:nvPr/>
        </p:nvSpPr>
        <p:spPr>
          <a:xfrm>
            <a:off x="0" y="6583679"/>
            <a:ext cx="12192000" cy="2947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297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CBDA3E-CFD6-4CAA-72A2-93C623A09891}"/>
              </a:ext>
            </a:extLst>
          </p:cNvPr>
          <p:cNvSpPr txBox="1"/>
          <p:nvPr/>
        </p:nvSpPr>
        <p:spPr>
          <a:xfrm>
            <a:off x="0" y="-11575"/>
            <a:ext cx="12192000" cy="52322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                                                             </a:t>
            </a:r>
            <a:r>
              <a:rPr lang="en-IN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8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MXene</a:t>
            </a:r>
            <a:endParaRPr lang="en-IN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68146D-C3B7-3C42-D8C2-D2ABB400953E}"/>
              </a:ext>
            </a:extLst>
          </p:cNvPr>
          <p:cNvSpPr/>
          <p:nvPr/>
        </p:nvSpPr>
        <p:spPr>
          <a:xfrm>
            <a:off x="0" y="6345925"/>
            <a:ext cx="12192000" cy="5325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bg1"/>
                </a:solidFill>
              </a:rPr>
              <a:t> </a:t>
            </a:r>
          </a:p>
          <a:p>
            <a:r>
              <a:rPr lang="fr-FR" u="sng" dirty="0">
                <a:solidFill>
                  <a:schemeClr val="accent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                                        </a:t>
            </a:r>
            <a:br>
              <a:rPr lang="fr-FR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2A3940-8D8E-82FA-4BAB-8727DB1D9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121652"/>
              </p:ext>
            </p:extLst>
          </p:nvPr>
        </p:nvGraphicFramePr>
        <p:xfrm>
          <a:off x="0" y="543619"/>
          <a:ext cx="12192000" cy="5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040">
                  <a:extLst>
                    <a:ext uri="{9D8B030D-6E8A-4147-A177-3AD203B41FA5}">
                      <a16:colId xmlns:a16="http://schemas.microsoft.com/office/drawing/2014/main" val="175444187"/>
                    </a:ext>
                  </a:extLst>
                </a:gridCol>
                <a:gridCol w="3209251">
                  <a:extLst>
                    <a:ext uri="{9D8B030D-6E8A-4147-A177-3AD203B41FA5}">
                      <a16:colId xmlns:a16="http://schemas.microsoft.com/office/drawing/2014/main" val="1782808342"/>
                    </a:ext>
                  </a:extLst>
                </a:gridCol>
                <a:gridCol w="3963709">
                  <a:extLst>
                    <a:ext uri="{9D8B030D-6E8A-4147-A177-3AD203B41FA5}">
                      <a16:colId xmlns:a16="http://schemas.microsoft.com/office/drawing/2014/main" val="393651967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598348462"/>
                    </a:ext>
                  </a:extLst>
                </a:gridCol>
              </a:tblGrid>
              <a:tr h="4259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how </a:t>
                      </a:r>
                      <a:r>
                        <a:rPr lang="en-IN" sz="1400" cap="all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mxene</a:t>
                      </a:r>
                      <a:r>
                        <a:rPr lang="en-IN" sz="140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used ?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 of </a:t>
                      </a:r>
                      <a:r>
                        <a:rPr lang="en-IN" sz="1400" cap="all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mxene</a:t>
                      </a:r>
                      <a:endParaRPr lang="en-IN" sz="1400" cap="all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cap="all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412147894"/>
                  </a:ext>
                </a:extLst>
              </a:tr>
              <a:tr h="117131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 dirty="0">
                          <a:solidFill>
                            <a:srgbClr val="2C3E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Supercapacitors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i="1" dirty="0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MXenes</a:t>
                      </a:r>
                      <a:r>
                        <a:rPr lang="en-IN" sz="1400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store charge via pseudocapacitive </a:t>
                      </a:r>
                      <a:r>
                        <a:rPr lang="en-IN" sz="1400" i="1" dirty="0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400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electric double-layer formation. Their layered structure allows rapid ion intercalation/de-intercalation.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conductivity (~10⁴ S/cm) &amp; hydrophilic surface (–OH, –O groups) enables fast ion transport and high capacitance.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Naguib et al., Advanced Materials, 2014</a:t>
                      </a:r>
                    </a:p>
                    <a:p>
                      <a:pPr algn="l" fontAlgn="t">
                        <a:buNone/>
                      </a:pPr>
                      <a:r>
                        <a:rPr lang="en-IN" sz="1400" dirty="0"/>
                        <a:t>DOI: </a:t>
                      </a:r>
                      <a:r>
                        <a:rPr lang="en-IN" sz="1400" b="1" dirty="0"/>
                        <a:t>10.1002/</a:t>
                      </a:r>
                      <a:r>
                        <a:rPr lang="en-IN" sz="1400" b="1" dirty="0" err="1"/>
                        <a:t>adma.201304138</a:t>
                      </a:r>
                      <a:endParaRPr lang="en-US" sz="1400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584146625"/>
                  </a:ext>
                </a:extLst>
              </a:tr>
              <a:tr h="44637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 dirty="0">
                          <a:solidFill>
                            <a:srgbClr val="2C3E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Lithium-ion Batteries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MXenes</a:t>
                      </a:r>
                      <a:r>
                        <a:rPr lang="en-US" sz="1400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act as anode materials where Li⁺ ions intercalate between layers with minimal diffusion resistance.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interlayer spacing &amp; metallic conductivity improves charge transfer and cycling stability.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1400" i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Lukatskaya</a:t>
                      </a:r>
                      <a:r>
                        <a:rPr lang="fr-FR" sz="1400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Science, 2013</a:t>
                      </a:r>
                    </a:p>
                    <a:p>
                      <a:pPr algn="l" fontAlgn="t">
                        <a:buNone/>
                      </a:pPr>
                      <a:r>
                        <a:rPr lang="en-IN" sz="1400" dirty="0"/>
                        <a:t>DOI: </a:t>
                      </a:r>
                      <a:r>
                        <a:rPr lang="en-IN" sz="1400" b="1" dirty="0"/>
                        <a:t>10.1126/</a:t>
                      </a:r>
                      <a:r>
                        <a:rPr lang="en-IN" sz="1400" b="1" dirty="0" err="1"/>
                        <a:t>science.1241488</a:t>
                      </a:r>
                      <a:endParaRPr lang="fr-FR" sz="1400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721560149"/>
                  </a:ext>
                </a:extLst>
              </a:tr>
              <a:tr h="9849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>
                          <a:solidFill>
                            <a:srgbClr val="2C3E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Electrocatalysis (HER/OER)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terminations and exposed metal sites act as active catalytic centers for hydrogen and oxygen evolution reactions.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Tunable surface chemistry (–O, –OH, –F) &amp; high surface area enhances catalytic activity and lowers overpotential.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Seh et al., Chemical Society Reviews, 2017</a:t>
                      </a:r>
                    </a:p>
                    <a:p>
                      <a:pPr algn="l" fontAlgn="t">
                        <a:buNone/>
                      </a:pPr>
                      <a:r>
                        <a:rPr lang="en-IN" sz="1400" dirty="0"/>
                        <a:t>DOI: </a:t>
                      </a:r>
                      <a:r>
                        <a:rPr lang="en-IN" sz="1400" b="1" dirty="0"/>
                        <a:t>10.1039/C6CS00631E</a:t>
                      </a:r>
                      <a:endParaRPr lang="en-US" sz="1400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441801747"/>
                  </a:ext>
                </a:extLst>
              </a:tr>
              <a:tr h="83759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>
                          <a:solidFill>
                            <a:srgbClr val="2C3E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(Gas/Biosensors)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in electrical resistance occur upon adsorption of gas molecules or biomolecules on </a:t>
                      </a:r>
                      <a:r>
                        <a:rPr lang="en-US" sz="1400" i="1" dirty="0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MXene</a:t>
                      </a:r>
                      <a:r>
                        <a:rPr lang="en-US" sz="1400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surface.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surface reactivity  &amp; large surface area provides high sensitivity and fast response time.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a-DK" sz="1400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 et al., ACS Nano, 2018</a:t>
                      </a:r>
                    </a:p>
                    <a:p>
                      <a:pPr algn="l" fontAlgn="t">
                        <a:buNone/>
                      </a:pPr>
                      <a:r>
                        <a:rPr lang="en-IN" sz="1400" dirty="0"/>
                        <a:t>DOI: </a:t>
                      </a:r>
                      <a:r>
                        <a:rPr lang="en-IN" sz="1400" b="1" dirty="0"/>
                        <a:t>10.1021/</a:t>
                      </a:r>
                      <a:r>
                        <a:rPr lang="en-IN" sz="1400" b="1" dirty="0" err="1"/>
                        <a:t>acsnano.8b05054</a:t>
                      </a:r>
                      <a:endParaRPr lang="da-DK" sz="1400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461364765"/>
                  </a:ext>
                </a:extLst>
              </a:tr>
              <a:tr h="9849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1" dirty="0">
                          <a:solidFill>
                            <a:srgbClr val="2C3E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Purification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MXenes</a:t>
                      </a:r>
                      <a:r>
                        <a:rPr lang="en-US" sz="1400" i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adsorb heavy metal ions and dyes through electrostatic interaction and surface functional groups.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i="1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Hydrophilicity &amp; negatively charged surface enhances adsorption efficiency.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1400" i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Rasool</a:t>
                      </a:r>
                      <a:r>
                        <a:rPr lang="fr-FR" sz="1400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Nature Communications, 2016</a:t>
                      </a:r>
                    </a:p>
                    <a:p>
                      <a:pPr algn="l" fontAlgn="t">
                        <a:buNone/>
                      </a:pPr>
                      <a:r>
                        <a:rPr lang="en-IN" sz="1400" dirty="0"/>
                        <a:t>DOI: </a:t>
                      </a:r>
                      <a:r>
                        <a:rPr lang="en-IN" sz="1400" b="1" dirty="0"/>
                        <a:t>10.1038/</a:t>
                      </a:r>
                      <a:r>
                        <a:rPr lang="en-IN" sz="1400" b="1" dirty="0" err="1"/>
                        <a:t>ncomms12461</a:t>
                      </a:r>
                      <a:endParaRPr lang="fr-FR" sz="1400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377319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725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FB3349-33D9-571E-05D2-B6465B056A5A}"/>
              </a:ext>
            </a:extLst>
          </p:cNvPr>
          <p:cNvSpPr/>
          <p:nvPr/>
        </p:nvSpPr>
        <p:spPr>
          <a:xfrm>
            <a:off x="4397619" y="2967335"/>
            <a:ext cx="33967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646410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3C2BB-9FA8-7A74-7666-09E8F5DA5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03FA8-6A3A-FA96-7D10-C16D7F75D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679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BA8B-850A-6BE3-45DC-D2E774777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9672A-127C-597E-7217-CAD1522F6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566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DDED-AA1A-7EFB-451B-D6BD612E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2E9B8-5454-CB76-C963-2B0EBE9D2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618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4BFB7-1C4B-6884-09D9-09D4AF37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6E556-CBE4-483E-1BAE-EA9292E09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0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07194-A158-A48A-D43E-DF55CF9C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206EC-DDFC-23F6-0163-C4B042C9B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102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1C7648-20EC-F500-5B4A-7A9667A4F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783" y="272436"/>
            <a:ext cx="9214055" cy="614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23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1077</Words>
  <Application>Microsoft Office PowerPoint</Application>
  <PresentationFormat>Widescreen</PresentationFormat>
  <Paragraphs>197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ElsevierSans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dharamasaha015@gmail.com</dc:creator>
  <cp:lastModifiedBy>dharamasaha015@gmail.com</cp:lastModifiedBy>
  <cp:revision>5</cp:revision>
  <dcterms:created xsi:type="dcterms:W3CDTF">2026-04-15T04:37:42Z</dcterms:created>
  <dcterms:modified xsi:type="dcterms:W3CDTF">2026-04-21T00:24:37Z</dcterms:modified>
</cp:coreProperties>
</file>