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62" r:id="rId3"/>
    <p:sldId id="264" r:id="rId4"/>
    <p:sldId id="263" r:id="rId5"/>
    <p:sldId id="257" r:id="rId6"/>
    <p:sldId id="258" r:id="rId7"/>
    <p:sldId id="259" r:id="rId8"/>
    <p:sldId id="260" r:id="rId9"/>
    <p:sldId id="261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4F835-F471-443C-B9EC-04FD01B29E4B}" v="4" dt="2026-03-13T06:04:08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45B23-8F22-47A3-A239-19353BFAD23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96952-1959-4284-B348-0AFFB734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96952-1959-4284-B348-0AFFB734ED3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09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2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06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27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12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8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21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0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38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00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51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78A3-FEB5-4D19-9394-44034769CF1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13FFA-F235-435A-A789-33B72211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63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132CC2-73BE-5ED3-A0E0-DAA6DF754070}"/>
              </a:ext>
            </a:extLst>
          </p:cNvPr>
          <p:cNvSpPr/>
          <p:nvPr/>
        </p:nvSpPr>
        <p:spPr>
          <a:xfrm>
            <a:off x="13245" y="2707375"/>
            <a:ext cx="12165510" cy="1107996"/>
          </a:xfrm>
          <a:prstGeom prst="rect">
            <a:avLst/>
          </a:prstGeom>
          <a:pattFill prst="ltVert">
            <a:fgClr>
              <a:schemeClr val="accent3">
                <a:lumMod val="75000"/>
              </a:schemeClr>
            </a:fgClr>
            <a:bgClr>
              <a:schemeClr val="bg1"/>
            </a:bgClr>
          </a:patt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Landau levels and their degeneracy</a:t>
            </a:r>
            <a:endParaRPr lang="en-US" sz="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B0F83-0641-238A-B630-13932BDC6F42}"/>
              </a:ext>
            </a:extLst>
          </p:cNvPr>
          <p:cNvSpPr/>
          <p:nvPr/>
        </p:nvSpPr>
        <p:spPr>
          <a:xfrm>
            <a:off x="-1721825" y="5712409"/>
            <a:ext cx="486383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Dharamananda Saha 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CUSB2404112015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16E65-131F-387A-3AE7-29ACF9EF760E}"/>
              </a:ext>
            </a:extLst>
          </p:cNvPr>
          <p:cNvSpPr/>
          <p:nvPr/>
        </p:nvSpPr>
        <p:spPr>
          <a:xfrm>
            <a:off x="3526448" y="267223"/>
            <a:ext cx="4857750" cy="857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2" descr="Central University of South Bihar, Gaya, Bihar">
            <a:extLst>
              <a:ext uri="{FF2B5EF4-FFF2-40B4-BE49-F238E27FC236}">
                <a16:creationId xmlns:a16="http://schemas.microsoft.com/office/drawing/2014/main" id="{AD801D43-68C6-F989-89B7-EE6D736C8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448" y="267223"/>
            <a:ext cx="48577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rectangle with blue and yellow lines&#10;&#10;Description automatically generated">
            <a:extLst>
              <a:ext uri="{FF2B5EF4-FFF2-40B4-BE49-F238E27FC236}">
                <a16:creationId xmlns:a16="http://schemas.microsoft.com/office/drawing/2014/main" id="{D17A8230-3413-E302-13E3-15CEAC175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75" y="1573161"/>
            <a:ext cx="4345858" cy="4109883"/>
          </a:xfrm>
          <a:prstGeom prst="rect">
            <a:avLst/>
          </a:prstGeom>
        </p:spPr>
      </p:pic>
      <p:pic>
        <p:nvPicPr>
          <p:cNvPr id="7" name="Picture 6" descr="A computer screen shot of a diagram&#10;&#10;Description automatically generated with medium confidence">
            <a:extLst>
              <a:ext uri="{FF2B5EF4-FFF2-40B4-BE49-F238E27FC236}">
                <a16:creationId xmlns:a16="http://schemas.microsoft.com/office/drawing/2014/main" id="{DDF81C10-84A9-8534-1A31-C997D2480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84" y="1573160"/>
            <a:ext cx="5077757" cy="41098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17EFF5C-5849-55AE-07DF-7A89CDDB12B8}"/>
              </a:ext>
            </a:extLst>
          </p:cNvPr>
          <p:cNvSpPr/>
          <p:nvPr/>
        </p:nvSpPr>
        <p:spPr>
          <a:xfrm>
            <a:off x="68826" y="0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A954-7363-218D-0850-0E1B429464B0}"/>
              </a:ext>
            </a:extLst>
          </p:cNvPr>
          <p:cNvSpPr/>
          <p:nvPr/>
        </p:nvSpPr>
        <p:spPr>
          <a:xfrm>
            <a:off x="2651485" y="5543386"/>
            <a:ext cx="13436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B=0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94B0E3-A379-5636-B3F1-AD86FAD72DED}"/>
              </a:ext>
            </a:extLst>
          </p:cNvPr>
          <p:cNvSpPr/>
          <p:nvPr/>
        </p:nvSpPr>
        <p:spPr>
          <a:xfrm>
            <a:off x="8060643" y="5533553"/>
            <a:ext cx="13436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B&gt;0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59F1BE-6425-B756-501F-D647533A27DE}"/>
              </a:ext>
            </a:extLst>
          </p:cNvPr>
          <p:cNvGrpSpPr/>
          <p:nvPr/>
        </p:nvGrpSpPr>
        <p:grpSpPr>
          <a:xfrm>
            <a:off x="32878" y="6543055"/>
            <a:ext cx="12159122" cy="369332"/>
            <a:chOff x="32878" y="6543055"/>
            <a:chExt cx="12159122" cy="3693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116774D-7BE4-BFA9-C815-DC9404B5EDC0}"/>
                </a:ext>
              </a:extLst>
            </p:cNvPr>
            <p:cNvSpPr/>
            <p:nvPr/>
          </p:nvSpPr>
          <p:spPr>
            <a:xfrm>
              <a:off x="32878" y="6597443"/>
              <a:ext cx="12159122" cy="2605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E8A579-44E7-6ACC-7846-B872A5225C21}"/>
                </a:ext>
              </a:extLst>
            </p:cNvPr>
            <p:cNvSpPr txBox="1"/>
            <p:nvPr/>
          </p:nvSpPr>
          <p:spPr>
            <a:xfrm>
              <a:off x="3716594" y="6543055"/>
              <a:ext cx="5191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https://github.com/dharamasaha015-cmd/QHE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62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D281DEA-2922-D272-AA02-AF6E7538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63"/>
          <a:stretch/>
        </p:blipFill>
        <p:spPr>
          <a:xfrm>
            <a:off x="243101" y="825909"/>
            <a:ext cx="11705797" cy="59116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17F2B2-1537-3EF0-F0CC-7EE05620595E}"/>
              </a:ext>
            </a:extLst>
          </p:cNvPr>
          <p:cNvSpPr/>
          <p:nvPr/>
        </p:nvSpPr>
        <p:spPr>
          <a:xfrm>
            <a:off x="68826" y="0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OVERVIEW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D2F4F-AE6E-6FD3-357E-5A5C064F843C}"/>
              </a:ext>
            </a:extLst>
          </p:cNvPr>
          <p:cNvGrpSpPr/>
          <p:nvPr/>
        </p:nvGrpSpPr>
        <p:grpSpPr>
          <a:xfrm>
            <a:off x="32878" y="6543055"/>
            <a:ext cx="12159122" cy="369332"/>
            <a:chOff x="32878" y="6543055"/>
            <a:chExt cx="12159122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72700C-F86E-A3B3-ACE3-41B239C13279}"/>
                </a:ext>
              </a:extLst>
            </p:cNvPr>
            <p:cNvSpPr/>
            <p:nvPr/>
          </p:nvSpPr>
          <p:spPr>
            <a:xfrm>
              <a:off x="32878" y="6597443"/>
              <a:ext cx="12159122" cy="2605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1844C6-DD77-2428-7BFE-02A4EE8FE2E5}"/>
                </a:ext>
              </a:extLst>
            </p:cNvPr>
            <p:cNvSpPr txBox="1"/>
            <p:nvPr/>
          </p:nvSpPr>
          <p:spPr>
            <a:xfrm>
              <a:off x="3716594" y="6543055"/>
              <a:ext cx="5191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https://github.com/dharamasaha015-cmd/QHE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0538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413E4029-81FB-6780-FDB5-C71814540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775268"/>
            <a:ext cx="12054348" cy="60827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32D53A-688D-0145-F086-A76F4CE52D05}"/>
              </a:ext>
            </a:extLst>
          </p:cNvPr>
          <p:cNvSpPr/>
          <p:nvPr/>
        </p:nvSpPr>
        <p:spPr>
          <a:xfrm>
            <a:off x="68826" y="0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OVERVIEW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93B5BC-734E-0052-A60E-7B4FBFBB7284}"/>
              </a:ext>
            </a:extLst>
          </p:cNvPr>
          <p:cNvGrpSpPr/>
          <p:nvPr/>
        </p:nvGrpSpPr>
        <p:grpSpPr>
          <a:xfrm>
            <a:off x="32878" y="6543055"/>
            <a:ext cx="12159122" cy="369332"/>
            <a:chOff x="32878" y="6543055"/>
            <a:chExt cx="12159122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427BB97-8BFE-968F-D9C0-B276FE8316D1}"/>
                </a:ext>
              </a:extLst>
            </p:cNvPr>
            <p:cNvSpPr/>
            <p:nvPr/>
          </p:nvSpPr>
          <p:spPr>
            <a:xfrm>
              <a:off x="32878" y="6597443"/>
              <a:ext cx="12159122" cy="2605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4D929D-DE7E-2899-D379-745B8A316DB0}"/>
                </a:ext>
              </a:extLst>
            </p:cNvPr>
            <p:cNvSpPr txBox="1"/>
            <p:nvPr/>
          </p:nvSpPr>
          <p:spPr>
            <a:xfrm>
              <a:off x="3716594" y="6543055"/>
              <a:ext cx="5191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https://github.com/dharamasaha015-cmd/QHE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105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652F23-DB6E-8C5A-F377-CC98C8E583C9}"/>
              </a:ext>
            </a:extLst>
          </p:cNvPr>
          <p:cNvSpPr/>
          <p:nvPr/>
        </p:nvSpPr>
        <p:spPr>
          <a:xfrm>
            <a:off x="145026" y="127819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LANDAU LEVELS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6C4BDA-2B5F-8A91-B334-4E7EF065CECA}"/>
              </a:ext>
            </a:extLst>
          </p:cNvPr>
          <p:cNvSpPr/>
          <p:nvPr/>
        </p:nvSpPr>
        <p:spPr>
          <a:xfrm>
            <a:off x="145026" y="943896"/>
            <a:ext cx="4122174" cy="56781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just the kinetic energy=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FC5E4-2951-E1EF-81B3-CAE5D4CD6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7" y="2182433"/>
            <a:ext cx="2629087" cy="10782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E8E622-C93B-AD87-F129-36809432FEB1}"/>
              </a:ext>
            </a:extLst>
          </p:cNvPr>
          <p:cNvSpPr txBox="1"/>
          <p:nvPr/>
        </p:nvSpPr>
        <p:spPr>
          <a:xfrm>
            <a:off x="273362" y="3414028"/>
            <a:ext cx="1624263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just the</a:t>
            </a:r>
          </a:p>
          <a:p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kinetic energy</a:t>
            </a:r>
            <a:endParaRPr lang="en-IN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472C7-6E0C-27C9-56A1-F2A2D87B44AC}"/>
              </a:ext>
            </a:extLst>
          </p:cNvPr>
          <p:cNvSpPr txBox="1"/>
          <p:nvPr/>
        </p:nvSpPr>
        <p:spPr>
          <a:xfrm>
            <a:off x="2088126" y="3414028"/>
            <a:ext cx="2083568" cy="10464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term represents the </a:t>
            </a:r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charged particle and the magnetic field.</a:t>
            </a:r>
            <a:endParaRPr lang="en-IN" sz="14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7E3C335-D7CE-DEFB-1CD2-850339FB8C89}"/>
              </a:ext>
            </a:extLst>
          </p:cNvPr>
          <p:cNvSpPr/>
          <p:nvPr/>
        </p:nvSpPr>
        <p:spPr>
          <a:xfrm>
            <a:off x="1405632" y="3057832"/>
            <a:ext cx="214621" cy="2753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3D41DC6-B35B-F5A8-6A50-58ADDB3BCFAC}"/>
              </a:ext>
            </a:extLst>
          </p:cNvPr>
          <p:cNvSpPr/>
          <p:nvPr/>
        </p:nvSpPr>
        <p:spPr>
          <a:xfrm>
            <a:off x="2773548" y="2883975"/>
            <a:ext cx="214621" cy="449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697DCE-1EB3-A421-D9E4-AFEA782A46D1}"/>
              </a:ext>
            </a:extLst>
          </p:cNvPr>
          <p:cNvSpPr txBox="1"/>
          <p:nvPr/>
        </p:nvSpPr>
        <p:spPr>
          <a:xfrm>
            <a:off x="273362" y="4704412"/>
            <a:ext cx="4239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Momentum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is defined from the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Lagrangian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as:- 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4CFED3-850E-423D-F2ED-E2DCDB46AF36}"/>
              </a:ext>
            </a:extLst>
          </p:cNvPr>
          <p:cNvCxnSpPr>
            <a:cxnSpLocks/>
          </p:cNvCxnSpPr>
          <p:nvPr/>
        </p:nvCxnSpPr>
        <p:spPr>
          <a:xfrm>
            <a:off x="145026" y="4664083"/>
            <a:ext cx="4122174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4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BD6C43E0-4DD0-5D26-4281-3ADCAEA40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6" y="5514029"/>
            <a:ext cx="1081697" cy="644858"/>
          </a:xfrm>
          <a:prstGeom prst="rect">
            <a:avLst/>
          </a:prstGeom>
        </p:spPr>
      </p:pic>
      <p:pic>
        <p:nvPicPr>
          <p:cNvPr id="29" name="Picture 2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5B8E27D-368D-0FCD-47D1-B98F7A81B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769" y="5467730"/>
            <a:ext cx="1764873" cy="6448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735C476-B2FF-98B0-A4F4-6E1F64E514ED}"/>
              </a:ext>
            </a:extLst>
          </p:cNvPr>
          <p:cNvSpPr txBox="1"/>
          <p:nvPr/>
        </p:nvSpPr>
        <p:spPr>
          <a:xfrm>
            <a:off x="1771865" y="565179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=&gt;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82350A-851A-3251-1407-A02BB07681D5}"/>
              </a:ext>
            </a:extLst>
          </p:cNvPr>
          <p:cNvSpPr txBox="1"/>
          <p:nvPr/>
        </p:nvSpPr>
        <p:spPr>
          <a:xfrm>
            <a:off x="273362" y="1261869"/>
            <a:ext cx="38369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i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lang="en-IN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electron moving in magnetic field is given by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84B3BD-C95D-65B8-1EDE-8A9EA5B9A577}"/>
              </a:ext>
            </a:extLst>
          </p:cNvPr>
          <p:cNvSpPr/>
          <p:nvPr/>
        </p:nvSpPr>
        <p:spPr>
          <a:xfrm>
            <a:off x="4455252" y="943896"/>
            <a:ext cx="4122174" cy="56781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just the kinetic energy=</a:t>
            </a:r>
            <a:endParaRPr lang="en-IN" dirty="0"/>
          </a:p>
        </p:txBody>
      </p:sp>
      <p:pic>
        <p:nvPicPr>
          <p:cNvPr id="37" name="Picture 3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BCFDCDD-F11A-AEA2-A2B1-9A6C5334B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98" y="1101859"/>
            <a:ext cx="2644369" cy="112023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3" name="Picture 42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B9CBB3CF-A98A-65B5-4B80-9B03B2A976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261" y="2629367"/>
            <a:ext cx="3734124" cy="2034716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BC54648-C6B4-840C-A396-97CC7DC7E413}"/>
              </a:ext>
            </a:extLst>
          </p:cNvPr>
          <p:cNvCxnSpPr/>
          <p:nvPr/>
        </p:nvCxnSpPr>
        <p:spPr>
          <a:xfrm>
            <a:off x="4550758" y="2399076"/>
            <a:ext cx="409313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9" name="Picture 48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F8A6C18A-4FE3-6A51-9187-C845288402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30" y="4383631"/>
            <a:ext cx="1310754" cy="1287892"/>
          </a:xfrm>
          <a:prstGeom prst="rect">
            <a:avLst/>
          </a:prstGeom>
        </p:spPr>
      </p:pic>
      <p:pic>
        <p:nvPicPr>
          <p:cNvPr id="51" name="Picture 5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6854357-0FB4-1A2D-FF8A-0DE09F6197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023" y="5168136"/>
            <a:ext cx="2194750" cy="41913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2" name="Arrow: Down 51">
            <a:extLst>
              <a:ext uri="{FF2B5EF4-FFF2-40B4-BE49-F238E27FC236}">
                <a16:creationId xmlns:a16="http://schemas.microsoft.com/office/drawing/2014/main" id="{73343037-46FD-04C1-FB2B-3ADAF00B7542}"/>
              </a:ext>
            </a:extLst>
          </p:cNvPr>
          <p:cNvSpPr/>
          <p:nvPr/>
        </p:nvSpPr>
        <p:spPr>
          <a:xfrm rot="16200000">
            <a:off x="5921904" y="5164548"/>
            <a:ext cx="272648" cy="4263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2786094-C241-5615-5B90-D3C6ACF2D4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52" y="5613699"/>
            <a:ext cx="3878773" cy="99777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CC57A54-AE04-486B-F57C-9ED07D3CA889}"/>
              </a:ext>
            </a:extLst>
          </p:cNvPr>
          <p:cNvSpPr/>
          <p:nvPr/>
        </p:nvSpPr>
        <p:spPr>
          <a:xfrm>
            <a:off x="7020232" y="4070555"/>
            <a:ext cx="1310754" cy="593528"/>
          </a:xfrm>
          <a:custGeom>
            <a:avLst/>
            <a:gdLst>
              <a:gd name="connsiteX0" fmla="*/ 0 w 1310754"/>
              <a:gd name="connsiteY0" fmla="*/ 0 h 593528"/>
              <a:gd name="connsiteX1" fmla="*/ 1310754 w 1310754"/>
              <a:gd name="connsiteY1" fmla="*/ 0 h 593528"/>
              <a:gd name="connsiteX2" fmla="*/ 1310754 w 1310754"/>
              <a:gd name="connsiteY2" fmla="*/ 593528 h 593528"/>
              <a:gd name="connsiteX3" fmla="*/ 0 w 1310754"/>
              <a:gd name="connsiteY3" fmla="*/ 593528 h 593528"/>
              <a:gd name="connsiteX4" fmla="*/ 0 w 1310754"/>
              <a:gd name="connsiteY4" fmla="*/ 0 h 59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754" h="593528" extrusionOk="0">
                <a:moveTo>
                  <a:pt x="0" y="0"/>
                </a:moveTo>
                <a:cubicBezTo>
                  <a:pt x="325708" y="-71217"/>
                  <a:pt x="1110612" y="-3765"/>
                  <a:pt x="1310754" y="0"/>
                </a:cubicBezTo>
                <a:cubicBezTo>
                  <a:pt x="1312782" y="178131"/>
                  <a:pt x="1315899" y="339672"/>
                  <a:pt x="1310754" y="593528"/>
                </a:cubicBezTo>
                <a:cubicBezTo>
                  <a:pt x="772597" y="647958"/>
                  <a:pt x="497254" y="526038"/>
                  <a:pt x="0" y="593528"/>
                </a:cubicBezTo>
                <a:cubicBezTo>
                  <a:pt x="-34049" y="348623"/>
                  <a:pt x="5784" y="146144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F0F28DB-F832-7BA6-6490-0D0BBDE36B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" r="50000"/>
          <a:stretch/>
        </p:blipFill>
        <p:spPr>
          <a:xfrm>
            <a:off x="9007439" y="943896"/>
            <a:ext cx="2894090" cy="279201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547AAF8-1812-F0CC-A1D5-8F6C0385E7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21" b="11029"/>
          <a:stretch/>
        </p:blipFill>
        <p:spPr>
          <a:xfrm>
            <a:off x="9007841" y="3855566"/>
            <a:ext cx="2910797" cy="2878238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79EF244-E6B2-2185-896C-F99195FEB961}"/>
              </a:ext>
            </a:extLst>
          </p:cNvPr>
          <p:cNvSpPr/>
          <p:nvPr/>
        </p:nvSpPr>
        <p:spPr>
          <a:xfrm>
            <a:off x="10980487" y="4241063"/>
            <a:ext cx="800499" cy="3211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AF2A60-C54C-2E22-7EAC-70A435C6D85C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92826CF-2EAB-9438-DEEA-A2B7AEBE33C4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617964-AC1B-E3C7-5B2B-8AD5C59519C5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328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E20B1B-32F5-E182-CA49-B41112E00693}"/>
              </a:ext>
            </a:extLst>
          </p:cNvPr>
          <p:cNvSpPr/>
          <p:nvPr/>
        </p:nvSpPr>
        <p:spPr>
          <a:xfrm>
            <a:off x="145026" y="98323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LANDAU LEVELS</a:t>
            </a:r>
          </a:p>
        </p:txBody>
      </p:sp>
      <p:pic>
        <p:nvPicPr>
          <p:cNvPr id="6" name="Picture 5" descr="A math equations and formulas on a white background&#10;&#10;Description automatically generated">
            <a:extLst>
              <a:ext uri="{FF2B5EF4-FFF2-40B4-BE49-F238E27FC236}">
                <a16:creationId xmlns:a16="http://schemas.microsoft.com/office/drawing/2014/main" id="{DE88D890-8A16-F536-10EF-9F08ED116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" y="1094151"/>
            <a:ext cx="6134632" cy="4999153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white background with black text and black text&#10;&#10;Description automatically generated">
            <a:extLst>
              <a:ext uri="{FF2B5EF4-FFF2-40B4-BE49-F238E27FC236}">
                <a16:creationId xmlns:a16="http://schemas.microsoft.com/office/drawing/2014/main" id="{F2622D2B-8601-2E86-15E2-88CBB9594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62" y="1107555"/>
            <a:ext cx="4442845" cy="2270977"/>
          </a:xfrm>
          <a:prstGeom prst="rect">
            <a:avLst/>
          </a:prstGeom>
        </p:spPr>
      </p:pic>
      <p:sp>
        <p:nvSpPr>
          <p:cNvPr id="10" name="AutoShape 4" descr="7.6: The Quantum Harmonic Oscillator - Physics LibreTexts">
            <a:extLst>
              <a:ext uri="{FF2B5EF4-FFF2-40B4-BE49-F238E27FC236}">
                <a16:creationId xmlns:a16="http://schemas.microsoft.com/office/drawing/2014/main" id="{4C698CFE-2D88-BCFF-B4A4-86F4ECDDA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428AA84C-7B02-C653-8B4A-6C5ABD0C2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60" y="3276600"/>
            <a:ext cx="1973713" cy="1648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3B2A11-1B26-357F-2911-74BF51673A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63" y="3441328"/>
            <a:ext cx="4442845" cy="265197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4AF7E2-5943-453D-68F1-1D2695E53B12}"/>
              </a:ext>
            </a:extLst>
          </p:cNvPr>
          <p:cNvCxnSpPr>
            <a:cxnSpLocks/>
          </p:cNvCxnSpPr>
          <p:nvPr/>
        </p:nvCxnSpPr>
        <p:spPr>
          <a:xfrm>
            <a:off x="6051057" y="1081823"/>
            <a:ext cx="6312" cy="4974848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61249F-077D-7689-F98A-A8E78F35D653}"/>
              </a:ext>
            </a:extLst>
          </p:cNvPr>
          <p:cNvSpPr/>
          <p:nvPr/>
        </p:nvSpPr>
        <p:spPr>
          <a:xfrm>
            <a:off x="6414851" y="1110341"/>
            <a:ext cx="1705897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0B8FE7-8CC7-6E78-2C5D-F5328B04ED89}"/>
              </a:ext>
            </a:extLst>
          </p:cNvPr>
          <p:cNvSpPr txBox="1"/>
          <p:nvPr/>
        </p:nvSpPr>
        <p:spPr>
          <a:xfrm>
            <a:off x="6074940" y="614274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https://www.researchgate.net/publication/282665999/figure/fig10/AS:668581947785233@1536413766563/Landau-Levels-of-Graphene-a-When-a-magnetic-field-is-not-applied-the-valence-band.ppm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485734E2-6EDF-A19E-F2BE-9464D1AABE2B}"/>
              </a:ext>
            </a:extLst>
          </p:cNvPr>
          <p:cNvSpPr/>
          <p:nvPr/>
        </p:nvSpPr>
        <p:spPr>
          <a:xfrm rot="5400000">
            <a:off x="9218414" y="1605361"/>
            <a:ext cx="3229113" cy="3130531"/>
          </a:xfrm>
          <a:prstGeom prst="circular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138988-E732-8C92-C661-4D37C4794894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8DF8D9-B56C-8317-558A-05832AADE4F4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39D030-E9B4-D14E-3C63-3F7A4FE85E09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42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86CA57-8DD6-6BE8-A3F2-99BB9B32BC87}"/>
              </a:ext>
            </a:extLst>
          </p:cNvPr>
          <p:cNvSpPr/>
          <p:nvPr/>
        </p:nvSpPr>
        <p:spPr>
          <a:xfrm>
            <a:off x="145026" y="166924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LANDAU LEVELS and their Degeneracy</a:t>
            </a:r>
          </a:p>
        </p:txBody>
      </p:sp>
      <p:pic>
        <p:nvPicPr>
          <p:cNvPr id="8" name="Picture 7" descr="A diagram of a magnetic field&#10;&#10;Description automatically generated">
            <a:extLst>
              <a:ext uri="{FF2B5EF4-FFF2-40B4-BE49-F238E27FC236}">
                <a16:creationId xmlns:a16="http://schemas.microsoft.com/office/drawing/2014/main" id="{FDA5A1A9-C1F9-F2E2-1838-2C739E52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44" y="992164"/>
            <a:ext cx="10448004" cy="569891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245B18B-A928-F0AA-FE68-277BE9414403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CDCD49-51AC-7A89-D406-29CF0605FA25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BFB517-A320-55CE-6951-DDF5561CCFFE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6510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A8CCD-CAD5-3C6A-1FA5-67B164C7BFA0}"/>
              </a:ext>
            </a:extLst>
          </p:cNvPr>
          <p:cNvSpPr/>
          <p:nvPr/>
        </p:nvSpPr>
        <p:spPr>
          <a:xfrm>
            <a:off x="145026" y="98323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Formation of the LANDAU TUBES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0B550A-F772-D4CC-AE91-0B80CCB34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36" y="855252"/>
            <a:ext cx="10631129" cy="58035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2057A8A-B03F-002C-291C-DDE45A7720EA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5E7C4F-1B0D-97D8-6F37-9BEE7DAAB99A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134C32-4969-0F47-2514-E784775DDE27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928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sphere with circles and circles&#10;&#10;Description automatically generated">
            <a:extLst>
              <a:ext uri="{FF2B5EF4-FFF2-40B4-BE49-F238E27FC236}">
                <a16:creationId xmlns:a16="http://schemas.microsoft.com/office/drawing/2014/main" id="{1A3A6D51-8500-1832-B388-D620C39B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6" y="1583600"/>
            <a:ext cx="5883837" cy="3883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CE66CE-7880-0D25-515E-F1B7C512AD76}"/>
              </a:ext>
            </a:extLst>
          </p:cNvPr>
          <p:cNvSpPr/>
          <p:nvPr/>
        </p:nvSpPr>
        <p:spPr>
          <a:xfrm>
            <a:off x="145026" y="98323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Formation of the LANDAU TUBES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E7017E-E0A3-9C68-5895-4B6DACDC8B50}"/>
              </a:ext>
            </a:extLst>
          </p:cNvPr>
          <p:cNvSpPr/>
          <p:nvPr/>
        </p:nvSpPr>
        <p:spPr>
          <a:xfrm>
            <a:off x="6476156" y="943897"/>
            <a:ext cx="5547851" cy="56732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E44D0-7A3A-F465-4455-E8CD8A2FAE72}"/>
              </a:ext>
            </a:extLst>
          </p:cNvPr>
          <p:cNvSpPr txBox="1"/>
          <p:nvPr/>
        </p:nvSpPr>
        <p:spPr>
          <a:xfrm>
            <a:off x="156510" y="56489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https://encrypted-tbn0.gstatic.com/images?q=tbn:ANd9GcTIWU7ObNXu1HaBf7gJ5wTctLDxp_LCdlSKzw&amp;s</a:t>
            </a: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9CAD529-2F4B-77FD-0AD5-B77E41A9C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104" y="1682590"/>
            <a:ext cx="2446232" cy="139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811823-7E79-04E3-2A4A-1E2B97BE7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794" y="3077171"/>
            <a:ext cx="5121084" cy="184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5818E7-BDF3-ED09-D420-50A9843DB982}"/>
              </a:ext>
            </a:extLst>
          </p:cNvPr>
          <p:cNvSpPr/>
          <p:nvPr/>
        </p:nvSpPr>
        <p:spPr>
          <a:xfrm>
            <a:off x="7208973" y="990078"/>
            <a:ext cx="44759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When  </a:t>
            </a:r>
            <a:r>
              <a:rPr lang="en-US" sz="3600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 </a:t>
            </a:r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is applied : </a:t>
            </a:r>
            <a:endParaRPr lang="en-US" sz="3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2" name="Picture 11" descr="A black text with black letters">
            <a:extLst>
              <a:ext uri="{FF2B5EF4-FFF2-40B4-BE49-F238E27FC236}">
                <a16:creationId xmlns:a16="http://schemas.microsoft.com/office/drawing/2014/main" id="{72C468C3-690B-4641-8D9F-F38F1405FC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41" y="5190793"/>
            <a:ext cx="4381880" cy="10135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2B2F49D-47FE-625B-BA46-3C9AD1AF6AFF}"/>
              </a:ext>
            </a:extLst>
          </p:cNvPr>
          <p:cNvSpPr/>
          <p:nvPr/>
        </p:nvSpPr>
        <p:spPr>
          <a:xfrm>
            <a:off x="9124336" y="5555226"/>
            <a:ext cx="2316685" cy="6491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C316FA-8184-AE6A-2C42-F2BF87182FEA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B0C0B2-8318-4609-FF13-CD134847FB29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32233D-D465-612C-F022-512D58E6988D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484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5D18E-EE9A-DBE6-6406-1517FECED77D}"/>
              </a:ext>
            </a:extLst>
          </p:cNvPr>
          <p:cNvSpPr/>
          <p:nvPr/>
        </p:nvSpPr>
        <p:spPr>
          <a:xfrm>
            <a:off x="145026" y="0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Degeneracies</a:t>
            </a:r>
          </a:p>
        </p:txBody>
      </p:sp>
      <p:pic>
        <p:nvPicPr>
          <p:cNvPr id="6" name="Picture 5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C6638042-ACA3-8517-867D-35BB04F7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06" y="757084"/>
            <a:ext cx="10436943" cy="604896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C757A4-28DF-3069-2E36-E4D9DC356C46}"/>
              </a:ext>
            </a:extLst>
          </p:cNvPr>
          <p:cNvSpPr/>
          <p:nvPr/>
        </p:nvSpPr>
        <p:spPr>
          <a:xfrm>
            <a:off x="4031225" y="2654710"/>
            <a:ext cx="2064775" cy="92185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A36BA-E5E7-2508-4AC3-F680B23C94EE}"/>
              </a:ext>
            </a:extLst>
          </p:cNvPr>
          <p:cNvSpPr txBox="1"/>
          <p:nvPr/>
        </p:nvSpPr>
        <p:spPr>
          <a:xfrm>
            <a:off x="4286864" y="2745572"/>
            <a:ext cx="1641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 is the centre of the cyclotron orbit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2CA2D4-EFD3-9242-664B-B53055015280}"/>
              </a:ext>
            </a:extLst>
          </p:cNvPr>
          <p:cNvSpPr/>
          <p:nvPr/>
        </p:nvSpPr>
        <p:spPr>
          <a:xfrm>
            <a:off x="8475407" y="2369574"/>
            <a:ext cx="511277" cy="38820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DB04934E-BE26-248C-8DDC-5C93E6724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095" y="6179554"/>
            <a:ext cx="838273" cy="45724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0E68ACE-89D2-6DD4-73E4-3CADEC929B26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532122-3C77-3D0F-41E8-3D9D75C4C394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4D71E2-7BF3-84DB-1ED6-558DFB59F338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3B4D0A5C-98F8-05D4-3A31-5DE71532E191}"/>
              </a:ext>
            </a:extLst>
          </p:cNvPr>
          <p:cNvSpPr/>
          <p:nvPr/>
        </p:nvSpPr>
        <p:spPr>
          <a:xfrm rot="5400000" flipH="1">
            <a:off x="8135132" y="2339874"/>
            <a:ext cx="126539" cy="68485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A925A8-4844-D91D-CB0E-ADDE6C1D5EAE}"/>
              </a:ext>
            </a:extLst>
          </p:cNvPr>
          <p:cNvSpPr/>
          <p:nvPr/>
        </p:nvSpPr>
        <p:spPr>
          <a:xfrm>
            <a:off x="1700980" y="6017343"/>
            <a:ext cx="1052051" cy="786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96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1B6FA41B-0915-05B7-339C-AB858F1EC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328" y="3429000"/>
            <a:ext cx="6060671" cy="3429000"/>
          </a:xfrm>
          <a:prstGeom prst="rect">
            <a:avLst/>
          </a:prstGeom>
        </p:spPr>
      </p:pic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AFEA2F6A-5969-BBC7-88C9-5854B6F42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24" y="3429000"/>
            <a:ext cx="6149651" cy="342900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150FE2D-0F76-F968-24AF-F599F0215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149651" cy="3428999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8D0BF22-7185-93A6-58B0-A405970806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25" y="0"/>
            <a:ext cx="6114325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4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6659D066-3D40-71D4-5001-C4C16DD643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8F424469-FAFE-412F-204D-7B7120B1F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03" y="678610"/>
            <a:ext cx="11213691" cy="59637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B926D9-A22E-57D8-D449-78491B075F2C}"/>
              </a:ext>
            </a:extLst>
          </p:cNvPr>
          <p:cNvSpPr/>
          <p:nvPr/>
        </p:nvSpPr>
        <p:spPr>
          <a:xfrm>
            <a:off x="145026" y="0"/>
            <a:ext cx="11901948" cy="6587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INTEGRAL QUANTUM HALL EFFECT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5E0926-6517-652F-21A4-9CC833787576}"/>
              </a:ext>
            </a:extLst>
          </p:cNvPr>
          <p:cNvGrpSpPr/>
          <p:nvPr/>
        </p:nvGrpSpPr>
        <p:grpSpPr>
          <a:xfrm>
            <a:off x="0" y="6549402"/>
            <a:ext cx="12192000" cy="369332"/>
            <a:chOff x="0" y="6549402"/>
            <a:chExt cx="12192000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72D154-405A-8985-DC00-93CF836B36C7}"/>
                </a:ext>
              </a:extLst>
            </p:cNvPr>
            <p:cNvSpPr/>
            <p:nvPr/>
          </p:nvSpPr>
          <p:spPr>
            <a:xfrm>
              <a:off x="0" y="6576781"/>
              <a:ext cx="12192000" cy="324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DD8F39-BEA1-29AC-F6F0-42D50D99ABAA}"/>
                </a:ext>
              </a:extLst>
            </p:cNvPr>
            <p:cNvSpPr txBox="1"/>
            <p:nvPr/>
          </p:nvSpPr>
          <p:spPr>
            <a:xfrm>
              <a:off x="3300638" y="6549402"/>
              <a:ext cx="5941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dhttp://www.damtp.cam.ac.uk/user/tong/qhe/qhe.pdf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446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12180-D191-9755-FB15-E9D1713EF031}"/>
              </a:ext>
            </a:extLst>
          </p:cNvPr>
          <p:cNvSpPr/>
          <p:nvPr/>
        </p:nvSpPr>
        <p:spPr>
          <a:xfrm>
            <a:off x="4133342" y="2829683"/>
            <a:ext cx="40629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099303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</TotalTime>
  <Words>334</Words>
  <Application>Microsoft Office PowerPoint</Application>
  <PresentationFormat>Widescreen</PresentationFormat>
  <Paragraphs>40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dharamasaha015@gmail.com</dc:creator>
  <cp:lastModifiedBy>dharamasaha015@gmail.com</cp:lastModifiedBy>
  <cp:revision>7</cp:revision>
  <dcterms:created xsi:type="dcterms:W3CDTF">2026-03-11T08:34:45Z</dcterms:created>
  <dcterms:modified xsi:type="dcterms:W3CDTF">2026-03-14T02:12:08Z</dcterms:modified>
</cp:coreProperties>
</file>